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先自报家门：温州大学 · 校园百事通 · 赛道二。一句话说明白我们做的是什么——把学生每天要开的那几个工具，收进一个入口。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不要急着讲产品，先讲他每天的真实处境。每点一下出一个场景，语气可以稍带吐槽——评委自己也是这么过来的。最后一句「五件事 = 五个入口」是转折点，说完停一秒再翻页。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把上一页的具体场景收成三个抽象问题：散、漏、记不住。这三条后面正是我们的三个卖点（统一入口 / 主动提醒 / 说人话），这里要点透，后面才能呼应。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转折页。我们的答案就是三个词：统一入口、一次登录、说人话。第三个是关键差异——把功能堆在一起的产品很多，但让学生用一句人话说事的不多，这也是 AI 真正上场的地方。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快速过一遍产品形态，不用逐个讲。左边九宫格分三批亮，右边是真机首页截图——让评委先看到一个真实产品，而不是架构图。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这是核心交互，讲慢一点。强调三点：① 一句话里可以有多件事，它自己拆；② 理解结果先给用户核对、可改，不是黑盒直接写库；③ 认不出来会直说没看懂，绝不瞎建条目。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最能体现「AI 省事」的一页：请假条本来是学生最烦的格式活，现在一句话生成、一键复制。特别提一句「不写进日程、不上传、缺信息留占位」——这是我们对隐私和诚实的态度。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课表是地基。我们把温大真实作息做成单一数据源：上午 1-5 节、下午从第 6 节 13:30 起、晚上一整段算第 11 节。讲师门难点时可以说「第 5 节 11:45 是午前最后一节，学校不排课」——这种细节最能证明我们真的对着温大做的。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这条解决「会漏」：通知从教务系统抓回来，解析成结构化，再自动匹配课表里的课。注意我们很克制——真实学号看不到任何编造样本，没有就是没有。这种诚实反而是加分项。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评委最关注「AI 含量」的一页。一条条点亮，每条配一句「它替代了什么人工动作」。时间紧就重点讲前三条：自然语言理解 / 请假条生成 / 通知解析。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主动交代技术选择，评委会问「为什么不用大模型」。答：不是不会用，是这四个理由。最后一条要强调——架构是可替换的，接上大模型能力只会更强。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这页讲「我们没吹牛」：统一身份认证是网易 SSO + 人机验证，静态页直连拿不到会话，所以我们不硬闯，改成同源抓取脚本 + 一键导入。把自己的技术边界说清楚，比嘴上说「全面打通」更可信。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给评委一个「接下来看什么」的路线图，方便你现场操作时他们跟得上。这一页也可以当彩排清单——照着点一遍，30 秒内讲完。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收尾不要念清单，只讲一句核心话术：「把五个入口，收进一个听得懂人话的入口。」然后留链接请评委自己试。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80960" y="-1097280"/>
            <a:ext cx="6035040" cy="6035040"/>
          </a:xfrm>
          <a:prstGeom prst="roundRect">
            <a:avLst>
              <a:gd name="adj" fmla="val 35000"/>
            </a:avLst>
          </a:prstGeom>
          <a:solidFill>
            <a:srgbClr val="4C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463040" y="4023360"/>
            <a:ext cx="6583680" cy="4572000"/>
          </a:xfrm>
          <a:prstGeom prst="roundRect">
            <a:avLst>
              <a:gd name="adj" fmla="val 35000"/>
            </a:avLst>
          </a:prstGeom>
          <a:solidFill>
            <a:srgbClr val="33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841248" cy="841248"/>
          </a:xfrm>
          <a:prstGeom prst="roundRect">
            <a:avLst>
              <a:gd name="adj" fmla="val 28000"/>
            </a:avLst>
          </a:prstGeom>
          <a:solidFill>
            <a:srgbClr val="5C7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FFFF"/>
                </a:solidFill>
                <a:latin typeface="微软雅黑"/>
              </a:rP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0512" y="868680"/>
            <a:ext cx="7680960" cy="45720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温州大学 · 校园生活百事通 · 赛道二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74519"/>
            <a:ext cx="10607040" cy="137160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FFFFFF"/>
                </a:solidFill>
                <a:latin typeface="微软雅黑"/>
              </a:rPr>
              <a:t>校园百事通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AF0FF"/>
                </a:solidFill>
                <a:latin typeface="微软雅黑"/>
              </a:rPr>
              <a:t>温大学生的一站式校园助手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424160" cy="10058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8E1FF"/>
                </a:solidFill>
                <a:latin typeface="微软雅黑"/>
              </a:rPr>
              <a:t>把「天气 · 课表 · 调课通知 · 作业 DDL · 课外计划 · 二手 · 失物 · 问答」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600" b="0">
                <a:solidFill>
                  <a:srgbClr val="D8E1FF"/>
                </a:solidFill>
                <a:latin typeface="微软雅黑"/>
              </a:rPr>
              <a:t>收进一个入口、一次登录，而且听得懂人话。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424160" cy="10058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8E1FF"/>
                </a:solidFill>
                <a:latin typeface="微软雅黑"/>
              </a:rPr>
              <a:t>选手：forey　|　温州大学计算机与人工智能学院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微软雅黑"/>
              </a:rPr>
              <a:t>现场演示：campus-hub-57981.app.workbuddy.host　（演示账号 20230427）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微软雅黑"/>
              </a:rPr>
              <a:t>▶ 点击鼠标，本页内容会一条条展开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01 ·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查一次校园信息，要付出多少步？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31A2A"/>
                </a:solidFill>
                <a:latin typeface="微软雅黑"/>
              </a:rPr>
              <a:t>☀️  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想知道今天穿什么</a:t>
            </a:r>
            <a:r>
              <a:rPr sz="1450" b="0">
                <a:solidFill>
                  <a:srgbClr val="F04438"/>
                </a:solidFill>
                <a:latin typeface="微软雅黑"/>
              </a:rPr>
              <a:t>　→　得再开一个天气 App / 网页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50592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31A2A"/>
                </a:solidFill>
                <a:latin typeface="微软雅黑"/>
              </a:rPr>
              <a:t>📝  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想记住作业 DDL</a:t>
            </a:r>
            <a:r>
              <a:rPr sz="1450" b="0">
                <a:solidFill>
                  <a:srgbClr val="F04438"/>
                </a:solidFill>
                <a:latin typeface="微软雅黑"/>
              </a:rPr>
              <a:t>　→　打开备忘录，自己再敲一遍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73552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31A2A"/>
                </a:solidFill>
                <a:latin typeface="微软雅黑"/>
              </a:rPr>
              <a:t>📅  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想看课表</a:t>
            </a:r>
            <a:r>
              <a:rPr sz="1450" b="0">
                <a:solidFill>
                  <a:srgbClr val="F04438"/>
                </a:solidFill>
                <a:latin typeface="微软雅黑"/>
              </a:rPr>
              <a:t>　→　先过统一身份认证，再在一堆菜单里找入口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96512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31A2A"/>
                </a:solidFill>
                <a:latin typeface="微软雅黑"/>
              </a:rPr>
              <a:t>🔔  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想确认有没有调课</a:t>
            </a:r>
            <a:r>
              <a:rPr sz="1450" b="0">
                <a:solidFill>
                  <a:srgbClr val="F04438"/>
                </a:solidFill>
                <a:latin typeface="微软雅黑"/>
              </a:rPr>
              <a:t>　→　翻教务系统，翻不到就当没发生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919472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31A2A"/>
                </a:solidFill>
                <a:latin typeface="微软雅黑"/>
              </a:rPr>
              <a:t>🛒  </a:t>
            </a:r>
            <a:r>
              <a:rPr sz="1600" b="1">
                <a:solidFill>
                  <a:srgbClr val="131A2A"/>
                </a:solidFill>
                <a:latin typeface="微软雅黑"/>
              </a:rPr>
              <a:t>想买二手 / 找失物</a:t>
            </a:r>
            <a:r>
              <a:rPr sz="1450" b="0">
                <a:solidFill>
                  <a:srgbClr val="F04438"/>
                </a:solidFill>
                <a:latin typeface="微软雅黑"/>
              </a:rPr>
              <a:t>　→　微信群爬楼，刷过去就没了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779008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1430">
            <a:solidFill>
              <a:srgbClr val="F7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04438"/>
                </a:solidFill>
                <a:latin typeface="微软雅黑"/>
              </a:rPr>
              <a:t>五件事 = 五个入口 = 五次登录与切换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02 ·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问题不在「功能不够」，在「入口太散」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1064240" cy="102412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77240" rIns="777240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1A2A"/>
                </a:solidFill>
                <a:latin typeface="微软雅黑"/>
              </a:rPr>
              <a:t>入口散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一天里在 5 个工具之间来回切，每次都重新找、重新登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43784"/>
            <a:ext cx="11064240" cy="1024128"/>
          </a:xfrm>
          <a:prstGeom prst="roundRect">
            <a:avLst>
              <a:gd name="adj" fmla="val 10000"/>
            </a:avLst>
          </a:prstGeom>
          <a:solidFill>
            <a:srgbClr val="FEF4E6"/>
          </a:solidFill>
          <a:ln w="11430">
            <a:solidFill>
              <a:srgbClr val="F8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77240" rIns="777240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1A2A"/>
                </a:solidFill>
                <a:latin typeface="微软雅黑"/>
              </a:rPr>
              <a:t>会漏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调课通知躺在教务系统里，不主动看就错过——去了才发现教室换了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1272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95928"/>
            <a:ext cx="11064240" cy="102412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77240" rIns="777240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1A2A"/>
                </a:solidFill>
                <a:latin typeface="微软雅黑"/>
              </a:rPr>
              <a:t>记不住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00" b="0">
                <a:solidFill>
                  <a:srgbClr val="45506A"/>
                </a:solidFill>
                <a:latin typeface="微软雅黑"/>
              </a:rPr>
              <a:t>作业靠脑子记，备忘录又懒得敲一遍——工具越多，越不想用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427939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7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49240"/>
            <a:ext cx="11064240" cy="73152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A5BFF"/>
                </a:solidFill>
                <a:latin typeface="微软雅黑"/>
              </a:rPr>
              <a:t>学生要的不是更多功能，是一个「不用记、不用切」的地方。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03 · 我们的答案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一个入口，一次登录，说人话就行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3566160" cy="25146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31A2A"/>
                </a:solidFill>
                <a:latin typeface="微软雅黑"/>
              </a:rPr>
              <a:t>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800" b="1">
                <a:solidFill>
                  <a:srgbClr val="131A2A"/>
                </a:solidFill>
                <a:latin typeface="微软雅黑"/>
              </a:rPr>
              <a:t>九个入口，一个顶栏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300" b="0">
                <a:solidFill>
                  <a:srgbClr val="45506A"/>
                </a:solidFill>
                <a:latin typeface="微软雅黑"/>
              </a:rPr>
              <a:t>首页 / 规划 / 课表 / 调课 / 作业 / 二手 / 失物 / 问答 / 我的，全部一个顶栏切到底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566160" cy="25146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31A2A"/>
                </a:solidFill>
                <a:latin typeface="微软雅黑"/>
              </a:rPr>
              <a:t>🔑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800" b="1">
                <a:solidFill>
                  <a:srgbClr val="131A2A"/>
                </a:solidFill>
                <a:latin typeface="微软雅黑"/>
              </a:rPr>
              <a:t>一次登录，跨页免登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300" b="0">
                <a:solidFill>
                  <a:srgbClr val="45506A"/>
                </a:solidFill>
                <a:latin typeface="微软雅黑"/>
              </a:rPr>
              <a:t>学号绑定后本机所有页面直进；多账号可一键切换，数据按学号互相隔离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1" y="1828800"/>
            <a:ext cx="3566160" cy="2514600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31A2A"/>
                </a:solidFill>
                <a:latin typeface="微软雅黑"/>
              </a:rPr>
              <a:t>✨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800" b="1">
                <a:solidFill>
                  <a:srgbClr val="131A2A"/>
                </a:solidFill>
                <a:latin typeface="微软雅黑"/>
              </a:rPr>
              <a:t>说人话就行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300" b="0">
                <a:solidFill>
                  <a:srgbClr val="45506A"/>
                </a:solidFill>
                <a:latin typeface="微软雅黑"/>
              </a:rPr>
              <a:t>「明晚 7 点图书馆自习」「明天上午请病假，因为发烧」——一句话，它自己判断该记成什么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800600"/>
            <a:ext cx="11064240" cy="82296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5506A"/>
                </a:solidFill>
                <a:latin typeface="微软雅黑"/>
              </a:rPr>
              <a:t>我们不是把功能搬到一起，而是让它</a:t>
            </a:r>
            <a:r>
              <a:rPr sz="1900" b="1">
                <a:solidFill>
                  <a:srgbClr val="3A5BFF"/>
                </a:solidFill>
                <a:latin typeface="微软雅黑"/>
              </a:rPr>
              <a:t>听得懂人话、自己找到该去的位置</a:t>
            </a:r>
            <a:r>
              <a:rPr sz="1900" b="0">
                <a:solidFill>
                  <a:srgbClr val="45506A"/>
                </a:solidFill>
                <a:latin typeface="微软雅黑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04 · 它长这样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九个模块，覆盖校园生活的一天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🏠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首页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天气 + 出行建议 + 今日规划摘要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9504" y="1664208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🧭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今日规划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按空档与 DDL 排出的专注安排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664208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📅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智能课表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温大真实作息 11 节 · 支持导入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17520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🔔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调课通知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抓取 → 解析 → 一键应用到课表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3017520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📝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作业 DDL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倒计时 / 逾期提醒 / 一键完成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3017520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🛒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二手集市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发布 · 筛选 · 联系卖家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70832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🔍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失物招领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丢了 / 捡到，分开找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4370832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💬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校园问答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选课、食堂、报修都有人答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4370832"/>
            <a:ext cx="2176272" cy="120700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A2A"/>
                </a:solidFill>
                <a:latin typeface="微软雅黑"/>
              </a:rPr>
              <a:t>👤 </a:t>
            </a:r>
            <a:r>
              <a:rPr sz="1450" b="1">
                <a:solidFill>
                  <a:srgbClr val="131A2A"/>
                </a:solidFill>
                <a:latin typeface="微软雅黑"/>
              </a:rPr>
              <a:t>我的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8892A6"/>
                </a:solidFill>
                <a:latin typeface="微软雅黑"/>
              </a:rPr>
              <a:t>学籍 · 导入导出 · 多账号切换</a:t>
            </a:r>
          </a:p>
        </p:txBody>
      </p:sp>
      <p:pic>
        <p:nvPicPr>
          <p:cNvPr id="14" name="Picture 13" descr="02-home.png"/>
          <p:cNvPicPr>
            <a:picLocks noChangeAspect="1"/>
          </p:cNvPicPr>
          <p:nvPr/>
        </p:nvPicPr>
        <p:blipFill>
          <a:blip r:embed="rId2"/>
          <a:srcRect b="6000"/>
          <a:stretch>
            <a:fillRect/>
          </a:stretch>
        </p:blipFill>
        <p:spPr>
          <a:xfrm>
            <a:off x="9464040" y="1664208"/>
            <a:ext cx="1856271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05 · 核心操作一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一句话记下来：说人话，它自己归类</a:t>
            </a:r>
          </a:p>
        </p:txBody>
      </p:sp>
      <p:pic>
        <p:nvPicPr>
          <p:cNvPr id="5" name="Picture 4" descr="03-nl-parse.png"/>
          <p:cNvPicPr>
            <a:picLocks noChangeAspect="1"/>
          </p:cNvPicPr>
          <p:nvPr/>
        </p:nvPicPr>
        <p:blipFill>
          <a:blip r:embed="rId2"/>
          <a:srcRect b="2000"/>
          <a:stretch>
            <a:fillRect/>
          </a:stretch>
        </p:blipFill>
        <p:spPr>
          <a:xfrm>
            <a:off x="658368" y="1572768"/>
            <a:ext cx="1919553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127248" y="1572768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一句话拆成两件事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分号 / 换行都能拆，最多一次记 5 件，互不干扰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746504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拆句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2450591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自动判断该记成什么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作业 DDL / 课外计划 / 课表补充 / 请假条，四类四种去处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624327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3328415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时间、地点、类型、重要度全抽出来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「高数」自动对上真实课表里的「高等数学 A(一)」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3502151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抽字段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4206240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先给你看「我理解为」，确认才写库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字段全都能现场改，不满意可以「不要这条」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4379976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可改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27248" y="5120640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EF4E6"/>
          </a:solidFill>
          <a:ln w="11430">
            <a:solidFill>
              <a:srgbClr val="F8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看不懂就直说看不懂：认不出来的字段会明确标出让用户补，不会瞎填一个默认值糊过去。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06 · 核心操作二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请假条：一句话，生成能直接发的正文</a:t>
            </a:r>
          </a:p>
        </p:txBody>
      </p:sp>
      <p:pic>
        <p:nvPicPr>
          <p:cNvPr id="5" name="Picture 4" descr="04-leave.png"/>
          <p:cNvPicPr>
            <a:picLocks noChangeAspect="1"/>
          </p:cNvPicPr>
          <p:nvPr/>
        </p:nvPicPr>
        <p:blipFill>
          <a:blip r:embed="rId2"/>
          <a:srcRect b="30000"/>
          <a:stretch>
            <a:fillRect/>
          </a:stretch>
        </p:blipFill>
        <p:spPr>
          <a:xfrm>
            <a:off x="658368" y="1572768"/>
            <a:ext cx="1919553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127248" y="1572768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假别 / 时间 / 时段 / 天数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病假 · 明天上午（半天），也认「请事假两天」「周五第 3-4 节」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746504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识别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2450591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理由从「因为」后面取，多余的字掐掉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说「因为发烧要去校医院」，正文里就是这一句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624327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取理由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3328415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自动拼出正式请假条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抬头 · 学院班级学号 · 假别时间 · 补课承诺 · 落款日期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3502151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成文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4242816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E6F8EF"/>
          </a:solidFill>
          <a:ln w="11430">
            <a:solidFill>
              <a:srgbClr val="BF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不写进日程，只给你成品：请假条是发给人的，不是日程；内容只在本机生成，姓名学院没填就留占位，系统不替你编。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07 · 核心操作三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智能课表：按温大真实作息长出来的</a:t>
            </a:r>
          </a:p>
        </p:txBody>
      </p:sp>
      <p:pic>
        <p:nvPicPr>
          <p:cNvPr id="5" name="Picture 4" descr="05-schedule.png"/>
          <p:cNvPicPr>
            <a:picLocks noChangeAspect="1"/>
          </p:cNvPicPr>
          <p:nvPr/>
        </p:nvPicPr>
        <p:blipFill>
          <a:blip r:embed="rId2"/>
          <a:srcRect b="2000"/>
          <a:stretch>
            <a:fillRect/>
          </a:stretch>
        </p:blipFill>
        <p:spPr>
          <a:xfrm>
            <a:off x="658368" y="1572768"/>
            <a:ext cx="1919553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127248" y="1572768"/>
            <a:ext cx="8503920" cy="96926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11 节真实作息，不是拍脑袋的模板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上午 1–5 节（第 5 节 11:45–12:25 午前最后一节，不排课）· 下午从第 6 节 13:30 起 · 晚上为第 11 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746504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真实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2633472"/>
            <a:ext cx="8503920" cy="96926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三种方式把真实课表弄进来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课表 PDF 识别 / 同源抓取脚本一键导入 / 一句话补充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807208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导入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3694176"/>
            <a:ext cx="8503920" cy="96926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连堂、周次、教室、教师都算对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「第 2-9 节」不会被截断；同课同色；支持「南5-A101」这类门牌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3867912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细节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4791456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空课表也不是死路：新同学第一次进来，页面直接给「去统一身份认证查课表 → 回来粘贴导入」的三步引导。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08 · 核心操作四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调课通知：抓回来，自动落到课表上</a:t>
            </a:r>
          </a:p>
        </p:txBody>
      </p:sp>
      <p:pic>
        <p:nvPicPr>
          <p:cNvPr id="5" name="Picture 4" descr="06-notice.png"/>
          <p:cNvPicPr>
            <a:picLocks noChangeAspect="1"/>
          </p:cNvPicPr>
          <p:nvPr/>
        </p:nvPicPr>
        <p:blipFill>
          <a:blip r:embed="rId2"/>
          <a:srcRect b="2000"/>
          <a:stretch>
            <a:fillRect/>
          </a:stretch>
        </p:blipFill>
        <p:spPr>
          <a:xfrm>
            <a:off x="658368" y="1572768"/>
            <a:ext cx="1919553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127248" y="1572768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从教务系统把通知原文取回来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自己写的同源脚本一键复制 → 回页面粘贴导入；不碰密码、不调校外接口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746504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抓取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2450591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把一段通知读成「哪门课、怎么变」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原时间 → 新时间、新教室、停课/补课，识别「第 3 周周二第 6-7 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624327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3328415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自动对上你课表里的那门课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按课程名 + 星期 + 起始节匹配，首页提示「这周先别按老时间去」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3502151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4206240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94944" rIns="69494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1A2A"/>
                </a:solidFill>
                <a:latin typeface="微软雅黑"/>
              </a:rPr>
              <a:t>一键应用到课表，原安排标灰保留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可撤销、可标记已读，影响今天的通知提到最上面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4379976"/>
            <a:ext cx="566928" cy="274320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27248" y="5120640"/>
            <a:ext cx="8503920" cy="786384"/>
          </a:xfrm>
          <a:prstGeom prst="roundRect">
            <a:avLst>
              <a:gd name="adj" fmla="val 10000"/>
            </a:avLst>
          </a:prstGeom>
          <a:solidFill>
            <a:srgbClr val="FEF4E6"/>
          </a:solidFill>
          <a:ln w="11430">
            <a:solidFill>
              <a:srgbClr val="F8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不编造：没有导入过真实通知的学号，页面一条假通知都不给，只给导入引导（只有演示账号带样本）。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09 · AI 到底做了什么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AI 不是在贴标签，它在替学生做这几件事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58368" rIns="658368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自然语言 → 结构化数据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从「明晚 7 点图书馆自习 2 小时」里抽出日期、时刻、时长、地点、类型、重要度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10512"/>
            <a:ext cx="548640" cy="25603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33472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58368" rIns="658368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意图识别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判断这是计划、作业 DDL、课表补充，还是请假条——四类四种处理路径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816352"/>
            <a:ext cx="548640" cy="25603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分类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39312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58368" rIns="658368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请假条正文生成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按学生信息、课时、理由、天数组织成正式文书，可直接发送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822191"/>
            <a:ext cx="548640" cy="25603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645152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58368" rIns="658368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教务通知理解与课表改写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从自然语言通知里定位课程、时间、教室变化，映射到课表具体节次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828032"/>
            <a:ext cx="548640" cy="25603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解析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627632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58368" rIns="658368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课表 PDF 识别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读教务系统导出的课表 PDF，把「8:20–9:00」映射到第 1 节，连堂自动合并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6" y="1810512"/>
            <a:ext cx="548640" cy="25603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识别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2633472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58368" rIns="658368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天气 → 出行建议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带不带伞、穿什么、骑车还是坐校车、几点适合运动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3096" y="2816352"/>
            <a:ext cx="548640" cy="25603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3639312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658368" rIns="658368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1A2A"/>
                </a:solidFill>
                <a:latin typeface="微软雅黑"/>
              </a:rPr>
              <a:t>今日规划自动排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45506A"/>
                </a:solidFill>
                <a:latin typeface="微软雅黑"/>
              </a:rPr>
              <a:t>在课表空档里按 DDL 与重要度排出「现在最该做什么」，并解释为什么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3822191"/>
            <a:ext cx="548640" cy="256032"/>
          </a:xfrm>
          <a:prstGeom prst="roundRect">
            <a:avLst>
              <a:gd name="adj" fmla="val 45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18288" rIns="18288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7A5CFF"/>
                </a:solidFill>
                <a:latin typeface="微软雅黑"/>
              </a:rPr>
              <a:t>排程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42432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5506A"/>
                </a:solidFill>
                <a:latin typeface="微软雅黑"/>
              </a:rPr>
              <a:t>共同点：</a:t>
            </a:r>
            <a:r>
              <a:rPr sz="1250" b="0">
                <a:solidFill>
                  <a:srgbClr val="45506A"/>
                </a:solidFill>
                <a:latin typeface="微软雅黑"/>
              </a:rPr>
              <a:t>都在替代学生「自己想、自己敲、自己翻」的动作，而不是多给一个界面。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10 · 技术选择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为什么是本地智能引擎，而不是调一个大模型接口？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5577840" cy="1316736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5BFF"/>
                </a:solidFill>
                <a:latin typeface="微软雅黑"/>
              </a:rPr>
              <a:t>①  </a:t>
            </a:r>
            <a:r>
              <a:rPr sz="1700" b="1">
                <a:solidFill>
                  <a:srgbClr val="131A2A"/>
                </a:solidFill>
                <a:latin typeface="微软雅黑"/>
              </a:rPr>
              <a:t>断网也能用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现场演示不赌网络。整个应用是零依赖静态站，双击本地文件就能跑。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1783080"/>
            <a:ext cx="5577840" cy="1316736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5BFF"/>
                </a:solidFill>
                <a:latin typeface="微软雅黑"/>
              </a:rPr>
              <a:t>②  </a:t>
            </a:r>
            <a:r>
              <a:rPr sz="1700" b="1">
                <a:solidFill>
                  <a:srgbClr val="131A2A"/>
                </a:solidFill>
                <a:latin typeface="微软雅黑"/>
              </a:rPr>
              <a:t>隐私留在本机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课表、作业、请假条都是私事，不该往第三方接口发。数据全部存在本机。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64408"/>
            <a:ext cx="5577840" cy="1316736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5BFF"/>
                </a:solidFill>
                <a:latin typeface="微软雅黑"/>
              </a:rPr>
              <a:t>③  </a:t>
            </a:r>
            <a:r>
              <a:rPr sz="1700" b="1">
                <a:solidFill>
                  <a:srgbClr val="131A2A"/>
                </a:solidFill>
                <a:latin typeface="微软雅黑"/>
              </a:rPr>
              <a:t>每一步都能讲清楚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为什么把它读成 19 点？规则摆在明面上，界面上也能解释，不是黑盒。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3264408"/>
            <a:ext cx="5577840" cy="1316736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5BFF"/>
                </a:solidFill>
                <a:latin typeface="微软雅黑"/>
              </a:rPr>
              <a:t>④  </a:t>
            </a:r>
            <a:r>
              <a:rPr sz="1700" b="1">
                <a:solidFill>
                  <a:srgbClr val="131A2A"/>
                </a:solidFill>
                <a:latin typeface="微软雅黑"/>
              </a:rPr>
              <a:t>可替换，不是封闭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解析能力收在 NL.parseAll() / Adjust.sync() 这样的单一入口，接大模型只需换一个函数。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0"/>
            <a:ext cx="11064240" cy="64008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5506A"/>
                </a:solidFill>
                <a:latin typeface="微软雅黑"/>
              </a:rPr>
              <a:t>我们先用规则把高频表达做扎实，再谈要不要上大模型——顺序不能反。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11 · 真实数据怎么进来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不硬闯登录，用学生自己的会话把数据带回来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64240" cy="868680"/>
          </a:xfrm>
          <a:prstGeom prst="roundRect">
            <a:avLst>
              <a:gd name="adj" fmla="val 10000"/>
            </a:avLst>
          </a:prstGeom>
          <a:solidFill>
            <a:srgbClr val="FEF4E6"/>
          </a:solidFill>
          <a:ln w="11430">
            <a:solidFill>
              <a:srgbClr val="F8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1A2A"/>
                </a:solidFill>
                <a:latin typeface="微软雅黑"/>
              </a:rPr>
              <a:t>先说难点：</a:t>
            </a:r>
            <a:r>
              <a:rPr sz="1400" b="0">
                <a:solidFill>
                  <a:srgbClr val="45506A"/>
                </a:solidFill>
                <a:latin typeface="微软雅黑"/>
              </a:rPr>
              <a:t>统一身份认证是网易 SSO，表单动态渲染、密码用公钥加密、还有人机验证——静态页面直连拿不到会话，硬做就是死路。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97480"/>
            <a:ext cx="3566160" cy="1572768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31A2A"/>
                </a:solidFill>
                <a:latin typeface="微软雅黑"/>
              </a:rPr>
              <a:t>① 同源抓取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学生在自己已登录的教务页面上运行我们给的脚本（一行复制），把课表与通知原文读出来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697480"/>
            <a:ext cx="3566160" cy="1572768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31A2A"/>
                </a:solidFill>
                <a:latin typeface="微软雅黑"/>
              </a:rPr>
              <a:t>② 一键导入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回应用粘贴，本地解析成课表与通知；也可以直接上传课表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1" y="2697480"/>
            <a:ext cx="3566160" cy="1572768"/>
          </a:xfrm>
          <a:prstGeom prst="roundRect">
            <a:avLst>
              <a:gd name="adj" fmla="val 10000"/>
            </a:avLst>
          </a:prstGeom>
          <a:solidFill>
            <a:srgbClr val="E8EDFF"/>
          </a:solidFill>
          <a:ln w="11430">
            <a:solidFill>
              <a:srgbClr val="CB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31A2A"/>
                </a:solidFill>
                <a:latin typeface="微软雅黑"/>
              </a:rPr>
              <a:t>③ 同一条链路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50" b="0">
                <a:solidFill>
                  <a:srgbClr val="45506A"/>
                </a:solidFill>
                <a:latin typeface="微软雅黑"/>
              </a:rPr>
              <a:t>导入数据与演示样本走完全相同的解析逻辑，正式版只需换掉取数那一步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11064240" cy="64008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5506A"/>
                </a:solidFill>
                <a:latin typeface="微软雅黑"/>
              </a:rPr>
              <a:t>全程</a:t>
            </a:r>
            <a:r>
              <a:rPr sz="1700" b="1">
                <a:solidFill>
                  <a:srgbClr val="12B76A"/>
                </a:solidFill>
                <a:latin typeface="微软雅黑"/>
              </a:rPr>
              <a:t>不接触学生密码</a:t>
            </a:r>
            <a:r>
              <a:rPr sz="1700" b="0">
                <a:solidFill>
                  <a:srgbClr val="45506A"/>
                </a:solidFill>
                <a:latin typeface="微软雅黑"/>
              </a:rPr>
              <a:t>、不调校外接口、不落地到任何服务器。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3A5BFF"/>
                </a:solidFill>
                <a:latin typeface="微软雅黑"/>
              </a:rPr>
              <a:t>12 · 现场演示路线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55680" cy="658368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31A2A"/>
                </a:solidFill>
                <a:latin typeface="微软雅黑"/>
              </a:rPr>
              <a:t>跟着点一遍，30 秒看清全貌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31520" rIns="731520"/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31A2A"/>
                </a:solidFill>
                <a:latin typeface="微软雅黑"/>
              </a:rPr>
              <a:t>打开链接 → 学号登录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　演示账号 20230427 · 首页直接看到天气、出行建议与今日规划摘要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8836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96896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31520" rIns="731520"/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31A2A"/>
                </a:solidFill>
                <a:latin typeface="微软雅黑"/>
              </a:rPr>
              <a:t>一句话记下来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　说「高数作业 周五 23:59 交；明晚 7 点图书馆自习 2 小时」→ 出可改的解析卡 → 确认落库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81635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29584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31520" rIns="731520"/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31A2A"/>
                </a:solidFill>
                <a:latin typeface="微软雅黑"/>
              </a:rPr>
              <a:t>请假条生成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　说「明天上午请病假，因为发烧要去校医院」→ 生成正文 → 复制（可现场粘贴到聊天框）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749039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462272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31520" rIns="731520"/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31A2A"/>
                </a:solidFill>
                <a:latin typeface="微软雅黑"/>
              </a:rPr>
              <a:t>课表 + 调课通知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　看温大真实作息 11 节；调课页点「应用到课表」，回课表页看它变了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68172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94960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1430">
            <a:solidFill>
              <a:srgbClr val="E1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731520" rIns="731520"/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31A2A"/>
                </a:solidFill>
                <a:latin typeface="微软雅黑"/>
              </a:rPr>
              <a:t>手机打开同一个链接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45506A"/>
                </a:solidFill>
                <a:latin typeface="微软雅黑"/>
              </a:rPr>
              <a:t>　换一个学号登录 → 数据互相隔离；二手 / 失物 / 问答也能直接用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6144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A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ctr" tIns="18288" bIns="18288" lIns="18288" r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892A6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63840" y="-1280160"/>
            <a:ext cx="5852160" cy="5852160"/>
          </a:xfrm>
          <a:prstGeom prst="roundRect">
            <a:avLst>
              <a:gd name="adj" fmla="val 35000"/>
            </a:avLst>
          </a:prstGeom>
          <a:solidFill>
            <a:srgbClr val="23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23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54864" rIns="54864"/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一句话收尾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71600"/>
            <a:ext cx="10607040" cy="173736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把五个入口，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3400" b="1">
                <a:solidFill>
                  <a:srgbClr val="9DB2FF"/>
                </a:solidFill>
                <a:latin typeface="微软雅黑"/>
              </a:rPr>
              <a:t>收进一个听得懂人话的入口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424160" cy="91440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7D2FF"/>
                </a:solidFill>
                <a:latin typeface="微软雅黑"/>
              </a:rPr>
              <a:t>天气、课表、调课、作业、二手失物——过去要开五个工具、登五次录、记五遍；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500" b="0">
                <a:solidFill>
                  <a:srgbClr val="C7D2FF"/>
                </a:solidFill>
                <a:latin typeface="微软雅黑"/>
              </a:rPr>
              <a:t>现在一句话说给它听，它自己判断该去哪、该记成什么、该提醒什么。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315968"/>
            <a:ext cx="5577840" cy="1371600"/>
          </a:xfrm>
          <a:prstGeom prst="roundRect">
            <a:avLst>
              <a:gd name="adj" fmla="val 10000"/>
            </a:avLst>
          </a:prstGeom>
          <a:solidFill>
            <a:srgbClr val="23307A"/>
          </a:solidFill>
          <a:ln w="11430">
            <a:solidFill>
              <a:srgbClr val="3E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已完成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D8E1FF"/>
                </a:solidFill>
                <a:latin typeface="微软雅黑"/>
              </a:rPr>
              <a:t>9 个模块全通 · 温大真实作息 · 多账号隔离 · 课表 PDF 识别与导入 · 自然语言记录 · 请假条生成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4315968"/>
            <a:ext cx="5577840" cy="1371600"/>
          </a:xfrm>
          <a:prstGeom prst="roundRect">
            <a:avLst>
              <a:gd name="adj" fmla="val 10000"/>
            </a:avLst>
          </a:prstGeom>
          <a:solidFill>
            <a:srgbClr val="23307A"/>
          </a:solidFill>
          <a:ln w="11430">
            <a:solidFill>
              <a:srgbClr val="3E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下一步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D8E1FF"/>
                </a:solidFill>
                <a:latin typeface="微软雅黑"/>
              </a:rPr>
              <a:t>接真实教务接口（课表 / 成绩 / 通知）· 二手交易闭环 · 校园问答接入学校知识库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424160" cy="548640"/>
          </a:xfrm>
          <a:prstGeom prst="rect">
            <a:avLst/>
          </a:prstGeom>
          <a:noFill/>
        </p:spPr>
        <p:txBody>
          <a:bodyPr wrap="square" anchor="t" tIns="18288" bIns="18288" lIns="18288" r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🎓 校园百事通　</a:t>
            </a:r>
            <a:r>
              <a:rPr sz="1400" b="0">
                <a:solidFill>
                  <a:srgbClr val="9DB2FF"/>
                </a:solidFill>
                <a:latin typeface="微软雅黑"/>
              </a:rPr>
              <a:t>campus-hub-57981.app.workbuddy.host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